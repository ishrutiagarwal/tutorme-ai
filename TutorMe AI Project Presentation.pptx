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D62CE7-FAC2-43D5-947C-1C909DD108DD}" v="98" dt="2026-10-05T17:08:31.4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7" d="100"/>
          <a:sy n="77" d="100"/>
        </p:scale>
        <p:origin x="883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GYA SINGH" userId="dc6b3ea18c944d4f" providerId="LiveId" clId="{EE44A698-0155-4D94-9712-B9BD625EE387}"/>
    <pc:docChg chg="undo custSel addSld modSld">
      <pc:chgData name="PRAGYA SINGH" userId="dc6b3ea18c944d4f" providerId="LiveId" clId="{EE44A698-0155-4D94-9712-B9BD625EE387}" dt="2026-10-05T17:09:23.169" v="301" actId="20577"/>
      <pc:docMkLst>
        <pc:docMk/>
      </pc:docMkLst>
      <pc:sldChg chg="addSp delSp modSp mod setBg">
        <pc:chgData name="PRAGYA SINGH" userId="dc6b3ea18c944d4f" providerId="LiveId" clId="{EE44A698-0155-4D94-9712-B9BD625EE387}" dt="2026-10-05T17:09:23.169" v="301" actId="20577"/>
        <pc:sldMkLst>
          <pc:docMk/>
          <pc:sldMk cId="0" sldId="256"/>
        </pc:sldMkLst>
        <pc:spChg chg="mod">
          <ac:chgData name="PRAGYA SINGH" userId="dc6b3ea18c944d4f" providerId="LiveId" clId="{EE44A698-0155-4D94-9712-B9BD625EE387}" dt="2026-10-05T17:09:23.169" v="301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PRAGYA SINGH" userId="dc6b3ea18c944d4f" providerId="LiveId" clId="{EE44A698-0155-4D94-9712-B9BD625EE387}" dt="2026-10-05T17:08:59.805" v="293" actId="207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PRAGYA SINGH" userId="dc6b3ea18c944d4f" providerId="LiveId" clId="{EE44A698-0155-4D94-9712-B9BD625EE387}" dt="2026-10-05T17:06:28.686" v="191" actId="21"/>
          <ac:spMkLst>
            <pc:docMk/>
            <pc:sldMk cId="0" sldId="256"/>
            <ac:spMk id="5" creationId="{00000000-0000-0000-0000-000000000000}"/>
          </ac:spMkLst>
        </pc:spChg>
        <pc:spChg chg="add mod">
          <ac:chgData name="PRAGYA SINGH" userId="dc6b3ea18c944d4f" providerId="LiveId" clId="{EE44A698-0155-4D94-9712-B9BD625EE387}" dt="2026-10-05T17:09:18.030" v="299" actId="14100"/>
          <ac:spMkLst>
            <pc:docMk/>
            <pc:sldMk cId="0" sldId="256"/>
            <ac:spMk id="7" creationId="{355230F9-3DA1-9D6B-91B5-F02633D1FFB2}"/>
          </ac:spMkLst>
        </pc:spChg>
        <pc:spChg chg="add mod">
          <ac:chgData name="PRAGYA SINGH" userId="dc6b3ea18c944d4f" providerId="LiveId" clId="{EE44A698-0155-4D94-9712-B9BD625EE387}" dt="2026-10-05T17:07:46.344" v="201" actId="767"/>
          <ac:spMkLst>
            <pc:docMk/>
            <pc:sldMk cId="0" sldId="256"/>
            <ac:spMk id="8" creationId="{50130B33-D533-ECB3-F654-C2BEB376CE35}"/>
          </ac:spMkLst>
        </pc:spChg>
      </pc:sldChg>
      <pc:sldChg chg="modSp mod">
        <pc:chgData name="PRAGYA SINGH" userId="dc6b3ea18c944d4f" providerId="LiveId" clId="{EE44A698-0155-4D94-9712-B9BD625EE387}" dt="2026-10-05T16:51:37.605" v="90" actId="1076"/>
        <pc:sldMkLst>
          <pc:docMk/>
          <pc:sldMk cId="0" sldId="258"/>
        </pc:sldMkLst>
        <pc:spChg chg="mod">
          <ac:chgData name="PRAGYA SINGH" userId="dc6b3ea18c944d4f" providerId="LiveId" clId="{EE44A698-0155-4D94-9712-B9BD625EE387}" dt="2026-10-05T16:51:37.605" v="90" actId="1076"/>
          <ac:spMkLst>
            <pc:docMk/>
            <pc:sldMk cId="0" sldId="258"/>
            <ac:spMk id="8" creationId="{00000000-0000-0000-0000-000000000000}"/>
          </ac:spMkLst>
        </pc:spChg>
      </pc:sldChg>
      <pc:sldChg chg="modSp mod">
        <pc:chgData name="PRAGYA SINGH" userId="dc6b3ea18c944d4f" providerId="LiveId" clId="{EE44A698-0155-4D94-9712-B9BD625EE387}" dt="2026-10-05T16:58:51.792" v="122" actId="207"/>
        <pc:sldMkLst>
          <pc:docMk/>
          <pc:sldMk cId="0" sldId="260"/>
        </pc:sldMkLst>
        <pc:spChg chg="mod">
          <ac:chgData name="PRAGYA SINGH" userId="dc6b3ea18c944d4f" providerId="LiveId" clId="{EE44A698-0155-4D94-9712-B9BD625EE387}" dt="2026-10-05T16:58:51.792" v="122" actId="207"/>
          <ac:spMkLst>
            <pc:docMk/>
            <pc:sldMk cId="0" sldId="260"/>
            <ac:spMk id="4" creationId="{00000000-0000-0000-0000-000000000000}"/>
          </ac:spMkLst>
        </pc:spChg>
      </pc:sldChg>
      <pc:sldChg chg="delSp modSp mod">
        <pc:chgData name="PRAGYA SINGH" userId="dc6b3ea18c944d4f" providerId="LiveId" clId="{EE44A698-0155-4D94-9712-B9BD625EE387}" dt="2026-10-05T17:04:38.082" v="186" actId="113"/>
        <pc:sldMkLst>
          <pc:docMk/>
          <pc:sldMk cId="0" sldId="261"/>
        </pc:sldMkLst>
        <pc:spChg chg="mod">
          <ac:chgData name="PRAGYA SINGH" userId="dc6b3ea18c944d4f" providerId="LiveId" clId="{EE44A698-0155-4D94-9712-B9BD625EE387}" dt="2026-10-05T17:04:38.082" v="186" actId="113"/>
          <ac:spMkLst>
            <pc:docMk/>
            <pc:sldMk cId="0" sldId="261"/>
            <ac:spMk id="4" creationId="{00000000-0000-0000-0000-000000000000}"/>
          </ac:spMkLst>
        </pc:spChg>
        <pc:spChg chg="del">
          <ac:chgData name="PRAGYA SINGH" userId="dc6b3ea18c944d4f" providerId="LiveId" clId="{EE44A698-0155-4D94-9712-B9BD625EE387}" dt="2026-10-05T16:51:25.038" v="89" actId="21"/>
          <ac:spMkLst>
            <pc:docMk/>
            <pc:sldMk cId="0" sldId="261"/>
            <ac:spMk id="5" creationId="{00000000-0000-0000-0000-000000000000}"/>
          </ac:spMkLst>
        </pc:spChg>
      </pc:sldChg>
      <pc:sldChg chg="addSp delSp modSp new mod">
        <pc:chgData name="PRAGYA SINGH" userId="dc6b3ea18c944d4f" providerId="LiveId" clId="{EE44A698-0155-4D94-9712-B9BD625EE387}" dt="2026-10-05T17:01:59.876" v="167" actId="14100"/>
        <pc:sldMkLst>
          <pc:docMk/>
          <pc:sldMk cId="598851909" sldId="262"/>
        </pc:sldMkLst>
        <pc:spChg chg="add mod">
          <ac:chgData name="PRAGYA SINGH" userId="dc6b3ea18c944d4f" providerId="LiveId" clId="{EE44A698-0155-4D94-9712-B9BD625EE387}" dt="2026-10-05T17:01:18.143" v="159" actId="403"/>
          <ac:spMkLst>
            <pc:docMk/>
            <pc:sldMk cId="598851909" sldId="262"/>
            <ac:spMk id="6" creationId="{B680B7C8-8D8F-09E5-2403-37AFFB634111}"/>
          </ac:spMkLst>
        </pc:spChg>
        <pc:picChg chg="add del mod modCrop">
          <ac:chgData name="PRAGYA SINGH" userId="dc6b3ea18c944d4f" providerId="LiveId" clId="{EE44A698-0155-4D94-9712-B9BD625EE387}" dt="2026-10-05T17:01:59.876" v="167" actId="14100"/>
          <ac:picMkLst>
            <pc:docMk/>
            <pc:sldMk cId="598851909" sldId="262"/>
            <ac:picMk id="3" creationId="{D6B88FB5-6888-2961-EBD9-DF777563F74E}"/>
          </ac:picMkLst>
        </pc:picChg>
        <pc:picChg chg="add del mod modCrop">
          <ac:chgData name="PRAGYA SINGH" userId="dc6b3ea18c944d4f" providerId="LiveId" clId="{EE44A698-0155-4D94-9712-B9BD625EE387}" dt="2026-10-05T16:57:02.628" v="110" actId="21"/>
          <ac:picMkLst>
            <pc:docMk/>
            <pc:sldMk cId="598851909" sldId="262"/>
            <ac:picMk id="5" creationId="{70769259-70A8-FF46-9A09-89E21974ED52}"/>
          </ac:picMkLst>
        </pc:picChg>
      </pc:sldChg>
      <pc:sldChg chg="addSp delSp modSp new mod">
        <pc:chgData name="PRAGYA SINGH" userId="dc6b3ea18c944d4f" providerId="LiveId" clId="{EE44A698-0155-4D94-9712-B9BD625EE387}" dt="2026-10-05T17:02:55.766" v="176" actId="14100"/>
        <pc:sldMkLst>
          <pc:docMk/>
          <pc:sldMk cId="1118322919" sldId="263"/>
        </pc:sldMkLst>
        <pc:spChg chg="add del mod">
          <ac:chgData name="PRAGYA SINGH" userId="dc6b3ea18c944d4f" providerId="LiveId" clId="{EE44A698-0155-4D94-9712-B9BD625EE387}" dt="2026-10-05T16:56:54.983" v="108"/>
          <ac:spMkLst>
            <pc:docMk/>
            <pc:sldMk cId="1118322919" sldId="263"/>
            <ac:spMk id="2" creationId="{B8024355-E7EF-F862-05E7-DBB6C44CF936}"/>
          </ac:spMkLst>
        </pc:spChg>
        <pc:spChg chg="add mod">
          <ac:chgData name="PRAGYA SINGH" userId="dc6b3ea18c944d4f" providerId="LiveId" clId="{EE44A698-0155-4D94-9712-B9BD625EE387}" dt="2026-10-05T17:00:49.032" v="158" actId="403"/>
          <ac:spMkLst>
            <pc:docMk/>
            <pc:sldMk cId="1118322919" sldId="263"/>
            <ac:spMk id="5" creationId="{E90FCB57-EA5A-A37D-DBF6-989B3A9203AA}"/>
          </ac:spMkLst>
        </pc:spChg>
        <pc:picChg chg="add mod modCrop">
          <ac:chgData name="PRAGYA SINGH" userId="dc6b3ea18c944d4f" providerId="LiveId" clId="{EE44A698-0155-4D94-9712-B9BD625EE387}" dt="2026-10-05T17:02:55.766" v="176" actId="14100"/>
          <ac:picMkLst>
            <pc:docMk/>
            <pc:sldMk cId="1118322919" sldId="263"/>
            <ac:picMk id="4" creationId="{E3BB7A6E-1E0C-10D4-A8DB-457A831F9C3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60000"/>
                <a:lumOff val="4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B4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369684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 u="sng" dirty="0" err="1">
                <a:solidFill>
                  <a:srgbClr val="192341"/>
                </a:solidFill>
                <a:latin typeface="Bahnschrift SemiBold" panose="020B0502040204020203" pitchFamily="34" charset="0"/>
              </a:rPr>
              <a:t>TutorMe</a:t>
            </a:r>
            <a:r>
              <a:rPr sz="5400" b="1" u="sng" dirty="0">
                <a:solidFill>
                  <a:srgbClr val="192341"/>
                </a:solidFill>
                <a:latin typeface="Bahnschrift SemiBold" panose="020B0502040204020203" pitchFamily="34" charset="0"/>
              </a:rPr>
              <a:t> AI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00887"/>
            <a:ext cx="541026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chemeClr val="accent2">
                    <a:lumMod val="75000"/>
                  </a:schemeClr>
                </a:solidFill>
              </a:rPr>
              <a:t>AI-Powered Personalized Learning Buddy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C7D"/>
                </a:solidFill>
              </a:defRPr>
            </a:pPr>
            <a: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5230F9-3DA1-9D6B-91B5-F02633D1FFB2}"/>
              </a:ext>
            </a:extLst>
          </p:cNvPr>
          <p:cNvSpPr txBox="1"/>
          <p:nvPr/>
        </p:nvSpPr>
        <p:spPr>
          <a:xfrm>
            <a:off x="5615609" y="4895481"/>
            <a:ext cx="39259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Presented by-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Shruti Agarwal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Farhan Ahmad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Shubham Pratap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Pragya Singh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B4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92341"/>
                </a:solidFill>
              </a:rPr>
              <a:t>1. Problem &amp;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D3241"/>
                </a:solidFill>
              </a:defRPr>
            </a:pPr>
            <a:r>
              <a:t>• Traditional learning resources often provide the same explanation to every learner.</a:t>
            </a:r>
          </a:p>
          <a:p>
            <a:pPr>
              <a:spcAft>
                <a:spcPts val="1300"/>
              </a:spcAft>
              <a:defRPr sz="2000">
                <a:solidFill>
                  <a:srgbClr val="2D3241"/>
                </a:solidFill>
              </a:defRPr>
            </a:pPr>
            <a:r>
              <a:t>• Students may struggle to understand difficult concepts without immediate, personalized guidance.</a:t>
            </a:r>
          </a:p>
          <a:p>
            <a:pPr>
              <a:spcAft>
                <a:spcPts val="1300"/>
              </a:spcAft>
              <a:defRPr sz="2000">
                <a:solidFill>
                  <a:srgbClr val="2D3241"/>
                </a:solidFill>
              </a:defRPr>
            </a:pPr>
            <a:r>
              <a:t>• TutorMe AI acts as a 24/7 learning buddy for a topic of the learner’s choice.</a:t>
            </a:r>
          </a:p>
          <a:p>
            <a:pPr>
              <a:spcAft>
                <a:spcPts val="1300"/>
              </a:spcAft>
              <a:defRPr sz="2000">
                <a:solidFill>
                  <a:srgbClr val="2D3241"/>
                </a:solidFill>
              </a:defRPr>
            </a:pPr>
            <a:r>
              <a:t>• It uses Gemini to explain concepts in simple, beginner-friendly language.</a:t>
            </a:r>
          </a:p>
          <a:p>
            <a:pPr>
              <a:spcAft>
                <a:spcPts val="1300"/>
              </a:spcAft>
              <a:defRPr sz="2000">
                <a:solidFill>
                  <a:srgbClr val="2D3241"/>
                </a:solidFill>
              </a:defRPr>
            </a:pPr>
            <a:r>
              <a:t>• The system combines explanation, examples, assessment, feedback, and chat in one interface.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C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B4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 dirty="0">
                <a:solidFill>
                  <a:srgbClr val="192341"/>
                </a:solidFill>
              </a:rPr>
              <a:t>2. Main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5B43B4"/>
                </a:solidFill>
              </a:defRPr>
            </a:pPr>
            <a:r>
              <a:t>Explain Concept</a:t>
            </a:r>
          </a:p>
          <a:p>
            <a:pPr>
              <a:defRPr sz="1250">
                <a:solidFill>
                  <a:srgbClr val="2D3241"/>
                </a:solidFill>
              </a:defRPr>
            </a:pPr>
            <a:r>
              <a:t>Simple explanation, one analogy, and a check-in question.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1732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5B43B4"/>
                </a:solidFill>
              </a:defRPr>
            </a:pPr>
            <a:r>
              <a:t>Real-Life Example</a:t>
            </a:r>
          </a:p>
          <a:p>
            <a:pPr>
              <a:defRPr sz="1250">
                <a:solidFill>
                  <a:srgbClr val="2D3241"/>
                </a:solidFill>
              </a:defRPr>
            </a:pPr>
            <a:r>
              <a:t>Step-by-step everyday example connected to the topic.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92608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5B43B4"/>
                </a:solidFill>
              </a:defRPr>
            </a:pPr>
            <a:r>
              <a:t>Generate Quiz</a:t>
            </a:r>
          </a:p>
          <a:p>
            <a:pPr>
              <a:defRPr sz="1250">
                <a:solidFill>
                  <a:srgbClr val="2D3241"/>
                </a:solidFill>
              </a:defRPr>
            </a:pPr>
            <a:r>
              <a:t>5 MCQs, easy-to-hard ordering, scoring and explanations.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92608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5B43B4"/>
                </a:solidFill>
              </a:defRPr>
            </a:pPr>
            <a:r>
              <a:t>Ask Anything</a:t>
            </a:r>
          </a:p>
          <a:p>
            <a:pPr>
              <a:defRPr sz="1250">
                <a:solidFill>
                  <a:srgbClr val="2D3241"/>
                </a:solidFill>
              </a:defRPr>
            </a:pPr>
            <a:r>
              <a:t>Beginner-friendly answers to student questions.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600824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5B43B4"/>
                </a:solidFill>
              </a:defRPr>
            </a:pPr>
            <a:r>
              <a:rPr dirty="0"/>
              <a:t>Chat with </a:t>
            </a:r>
            <a:r>
              <a:rPr dirty="0" err="1"/>
              <a:t>TutorMe</a:t>
            </a:r>
            <a:endParaRPr dirty="0"/>
          </a:p>
          <a:p>
            <a:pPr>
              <a:defRPr sz="1250">
                <a:solidFill>
                  <a:srgbClr val="2D3241"/>
                </a:solidFill>
              </a:defRPr>
            </a:pPr>
            <a:r>
              <a:rPr dirty="0"/>
              <a:t>Ongoing conversation with chat history/memory.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C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B4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92341"/>
                </a:solidFill>
              </a:rPr>
              <a:t>3. System Architecture &amp;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25880"/>
            <a:ext cx="10241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5B4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D3241"/>
                </a:solidFill>
              </a:defRPr>
            </a:pPr>
            <a:r>
              <a:t>Student  →  Selects activity and enters a topic/question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12264"/>
            <a:ext cx="10241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5B4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>
                <a:solidFill>
                  <a:srgbClr val="2D3241"/>
                </a:solidFill>
              </a:defRPr>
            </a:pPr>
            <a:r>
              <a:t>Streamlit UI  →  Receives input and controls the selected activity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898648"/>
            <a:ext cx="10241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5B4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>
                <a:solidFill>
                  <a:srgbClr val="2D3241"/>
                </a:solidFill>
              </a:defRPr>
            </a:pPr>
            <a:r>
              <a:t>Prompt + Persona  →  Builds a beginner-friendly prompt using the TutorMe persona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685032"/>
            <a:ext cx="10241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5B4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D3241"/>
                </a:solidFill>
              </a:defRPr>
            </a:pPr>
            <a:r>
              <a:t>Gemini 2.5 Flash  →  Generates explanation, example, quiz, answer or chat response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471416"/>
            <a:ext cx="10241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5B4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>
                <a:solidFill>
                  <a:srgbClr val="2D3241"/>
                </a:solidFill>
              </a:defRPr>
            </a:pPr>
            <a:r>
              <a:t>Processing  →  JSON quiz parsing / scoring / session handling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257800"/>
            <a:ext cx="10241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5B4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D3241"/>
                </a:solidFill>
              </a:defRPr>
            </a:pPr>
            <a:r>
              <a:t>Student Feedback  →  Displays result, explanations and conversational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C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B88FB5-6888-2961-EBD9-DF777563F7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791" t="15167" r="12304" b="17008"/>
          <a:stretch>
            <a:fillRect/>
          </a:stretch>
        </p:blipFill>
        <p:spPr>
          <a:xfrm>
            <a:off x="79513" y="834886"/>
            <a:ext cx="12112487" cy="58442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80B7C8-8D8F-09E5-2403-37AFFB634111}"/>
              </a:ext>
            </a:extLst>
          </p:cNvPr>
          <p:cNvSpPr txBox="1"/>
          <p:nvPr/>
        </p:nvSpPr>
        <p:spPr>
          <a:xfrm>
            <a:off x="1073425" y="407504"/>
            <a:ext cx="25941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Dashboard </a:t>
            </a:r>
          </a:p>
        </p:txBody>
      </p:sp>
    </p:spTree>
    <p:extLst>
      <p:ext uri="{BB962C8B-B14F-4D97-AF65-F5344CB8AC3E}">
        <p14:creationId xmlns:p14="http://schemas.microsoft.com/office/powerpoint/2010/main" val="598851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BB7A6E-1E0C-10D4-A8DB-457A831F9C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51" t="19743" r="15942" b="5942"/>
          <a:stretch>
            <a:fillRect/>
          </a:stretch>
        </p:blipFill>
        <p:spPr>
          <a:xfrm>
            <a:off x="0" y="1212575"/>
            <a:ext cx="11479696" cy="54168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0FCB57-EA5A-A37D-DBF6-989B3A9203AA}"/>
              </a:ext>
            </a:extLst>
          </p:cNvPr>
          <p:cNvSpPr txBox="1"/>
          <p:nvPr/>
        </p:nvSpPr>
        <p:spPr>
          <a:xfrm>
            <a:off x="1043609" y="377687"/>
            <a:ext cx="2837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/>
              <a:t>Demonstration </a:t>
            </a:r>
          </a:p>
        </p:txBody>
      </p:sp>
    </p:spTree>
    <p:extLst>
      <p:ext uri="{BB962C8B-B14F-4D97-AF65-F5344CB8AC3E}">
        <p14:creationId xmlns:p14="http://schemas.microsoft.com/office/powerpoint/2010/main" val="1118322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B4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92341"/>
                </a:solidFill>
              </a:rPr>
              <a:t>4. Technology Stack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2864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D3241"/>
                </a:solidFill>
              </a:defRPr>
            </a:pPr>
            <a:r>
              <a:rPr dirty="0"/>
              <a:t>• </a:t>
            </a:r>
            <a:r>
              <a:rPr b="1" dirty="0"/>
              <a:t>Frontend / UI</a:t>
            </a:r>
            <a:r>
              <a:rPr dirty="0"/>
              <a:t>: </a:t>
            </a:r>
            <a:r>
              <a:rPr dirty="0" err="1"/>
              <a:t>Streamlit</a:t>
            </a:r>
            <a:r>
              <a:rPr dirty="0"/>
              <a:t> — provides the interactive web interface and activity selector.</a:t>
            </a:r>
          </a:p>
          <a:p>
            <a:pPr>
              <a:spcAft>
                <a:spcPts val="1300"/>
              </a:spcAft>
              <a:defRPr sz="1800">
                <a:solidFill>
                  <a:srgbClr val="2D3241"/>
                </a:solidFill>
              </a:defRPr>
            </a:pPr>
            <a:r>
              <a:rPr dirty="0"/>
              <a:t>• </a:t>
            </a:r>
            <a:r>
              <a:rPr b="1" dirty="0"/>
              <a:t>AI Model</a:t>
            </a:r>
            <a:r>
              <a:rPr dirty="0"/>
              <a:t>: Google Gemini 2.5 Flash via the Google GenAI SDK.</a:t>
            </a:r>
          </a:p>
          <a:p>
            <a:pPr>
              <a:spcAft>
                <a:spcPts val="1300"/>
              </a:spcAft>
              <a:defRPr sz="1800">
                <a:solidFill>
                  <a:srgbClr val="2D3241"/>
                </a:solidFill>
              </a:defRPr>
            </a:pPr>
            <a:r>
              <a:rPr dirty="0"/>
              <a:t>• </a:t>
            </a:r>
            <a:r>
              <a:rPr b="1" dirty="0"/>
              <a:t>Language:</a:t>
            </a:r>
            <a:r>
              <a:rPr dirty="0"/>
              <a:t> Python — application logic, prompting, quiz handling and session management.</a:t>
            </a:r>
          </a:p>
          <a:p>
            <a:pPr>
              <a:spcAft>
                <a:spcPts val="1300"/>
              </a:spcAft>
              <a:defRPr sz="1800">
                <a:solidFill>
                  <a:srgbClr val="2D3241"/>
                </a:solidFill>
              </a:defRPr>
            </a:pPr>
            <a:r>
              <a:rPr dirty="0"/>
              <a:t>• </a:t>
            </a:r>
            <a:r>
              <a:rPr b="1" dirty="0"/>
              <a:t>State &amp; Chat Memory</a:t>
            </a:r>
            <a:r>
              <a:rPr dirty="0"/>
              <a:t>: </a:t>
            </a:r>
            <a:r>
              <a:rPr dirty="0" err="1"/>
              <a:t>Streamlit</a:t>
            </a:r>
            <a:r>
              <a:rPr dirty="0"/>
              <a:t> </a:t>
            </a:r>
            <a:r>
              <a:rPr dirty="0" err="1"/>
              <a:t>session_state</a:t>
            </a:r>
            <a:r>
              <a:rPr dirty="0"/>
              <a:t> stores quiz data, answers, history and chat session.</a:t>
            </a:r>
          </a:p>
          <a:p>
            <a:pPr>
              <a:spcAft>
                <a:spcPts val="1300"/>
              </a:spcAft>
              <a:defRPr sz="1800">
                <a:solidFill>
                  <a:srgbClr val="2D3241"/>
                </a:solidFill>
              </a:defRPr>
            </a:pPr>
            <a:r>
              <a:rPr dirty="0"/>
              <a:t>• </a:t>
            </a:r>
            <a:r>
              <a:rPr b="1" dirty="0"/>
              <a:t>Reliability</a:t>
            </a:r>
            <a:r>
              <a:rPr dirty="0"/>
              <a:t>: </a:t>
            </a:r>
            <a:r>
              <a:rPr dirty="0" err="1"/>
              <a:t>safe_generate</a:t>
            </a:r>
            <a:r>
              <a:rPr dirty="0"/>
              <a:t>() handles empty/malformed responses and retries failed Gemini calls once.</a:t>
            </a:r>
          </a:p>
          <a:p>
            <a:pPr>
              <a:spcAft>
                <a:spcPts val="1300"/>
              </a:spcAft>
              <a:defRPr sz="1800">
                <a:solidFill>
                  <a:srgbClr val="2D3241"/>
                </a:solidFill>
              </a:defRPr>
            </a:pPr>
            <a:r>
              <a:rPr dirty="0"/>
              <a:t>• </a:t>
            </a:r>
            <a:r>
              <a:rPr b="1" dirty="0"/>
              <a:t>Quiz Engine</a:t>
            </a:r>
            <a:r>
              <a:rPr dirty="0"/>
              <a:t>: Gemini returns structured JSON; the app renders MCQs, auto-grades them and shows explanations.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C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B4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92341"/>
                </a:solidFill>
              </a:rPr>
              <a:t>5. Working Example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303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D3241"/>
                </a:solidFill>
              </a:defRPr>
            </a:pPr>
            <a:r>
              <a:rPr dirty="0"/>
              <a:t>• </a:t>
            </a:r>
            <a:r>
              <a:rPr b="1" dirty="0"/>
              <a:t>Input: </a:t>
            </a:r>
            <a:r>
              <a:rPr dirty="0"/>
              <a:t>Student chooses “Explain Concept” and enters “Machine Learning”.</a:t>
            </a:r>
          </a:p>
          <a:p>
            <a:pPr>
              <a:spcAft>
                <a:spcPts val="1300"/>
              </a:spcAft>
              <a:defRPr sz="1800">
                <a:solidFill>
                  <a:srgbClr val="2D3241"/>
                </a:solidFill>
              </a:defRPr>
            </a:pPr>
            <a:r>
              <a:rPr dirty="0"/>
              <a:t>• </a:t>
            </a:r>
            <a:r>
              <a:rPr b="1" dirty="0"/>
              <a:t>AI Response: </a:t>
            </a:r>
            <a:r>
              <a:rPr dirty="0" err="1"/>
              <a:t>TutorMe</a:t>
            </a:r>
            <a:r>
              <a:rPr dirty="0"/>
              <a:t> explains the concept using simple language and one relatable analogy.</a:t>
            </a:r>
          </a:p>
          <a:p>
            <a:pPr>
              <a:spcAft>
                <a:spcPts val="1300"/>
              </a:spcAft>
              <a:defRPr sz="1800">
                <a:solidFill>
                  <a:srgbClr val="2D3241"/>
                </a:solidFill>
              </a:defRPr>
            </a:pPr>
            <a:r>
              <a:rPr dirty="0"/>
              <a:t>• </a:t>
            </a:r>
            <a:r>
              <a:rPr b="1" dirty="0"/>
              <a:t>Next Step: </a:t>
            </a:r>
            <a:r>
              <a:rPr dirty="0"/>
              <a:t>Student can ask a follow-up question through the conversational tutor.</a:t>
            </a:r>
          </a:p>
          <a:p>
            <a:pPr>
              <a:spcAft>
                <a:spcPts val="1300"/>
              </a:spcAft>
              <a:defRPr sz="1800">
                <a:solidFill>
                  <a:srgbClr val="2D3241"/>
                </a:solidFill>
              </a:defRPr>
            </a:pPr>
            <a:r>
              <a:rPr dirty="0"/>
              <a:t>• </a:t>
            </a:r>
            <a:r>
              <a:rPr b="1" dirty="0"/>
              <a:t>Assessment:</a:t>
            </a:r>
            <a:r>
              <a:rPr dirty="0"/>
              <a:t> Selecting “Generate Quiz” creates five MCQs from easy to hard and calculates the score.</a:t>
            </a:r>
          </a:p>
          <a:p>
            <a:pPr>
              <a:spcAft>
                <a:spcPts val="1300"/>
              </a:spcAft>
              <a:defRPr sz="1800">
                <a:solidFill>
                  <a:srgbClr val="2D3241"/>
                </a:solidFill>
              </a:defRPr>
            </a:pPr>
            <a:r>
              <a:rPr dirty="0"/>
              <a:t>• </a:t>
            </a:r>
            <a:r>
              <a:rPr b="1" dirty="0"/>
              <a:t>Feedback:</a:t>
            </a:r>
            <a:r>
              <a:rPr dirty="0"/>
              <a:t> Each answer includes the correct answer and a short explanation.</a:t>
            </a:r>
          </a:p>
          <a:p>
            <a:pPr>
              <a:spcAft>
                <a:spcPts val="1300"/>
              </a:spcAft>
              <a:defRPr sz="1800">
                <a:solidFill>
                  <a:srgbClr val="2D3241"/>
                </a:solidFill>
              </a:defRPr>
            </a:pPr>
            <a:r>
              <a:rPr b="1" dirty="0"/>
              <a:t>Conclusion</a:t>
            </a:r>
            <a:endParaRPr lang="en-IN" b="1" dirty="0"/>
          </a:p>
          <a:p>
            <a:pPr>
              <a:spcAft>
                <a:spcPts val="1300"/>
              </a:spcAft>
              <a:defRPr sz="1800">
                <a:solidFill>
                  <a:srgbClr val="2D3241"/>
                </a:solidFill>
              </a:defRPr>
            </a:pPr>
            <a:r>
              <a:rPr dirty="0"/>
              <a:t> </a:t>
            </a:r>
            <a:r>
              <a:rPr dirty="0" err="1"/>
              <a:t>TutorMe</a:t>
            </a:r>
            <a:r>
              <a:rPr dirty="0"/>
              <a:t> AI turns a general-purpose LLM into a focused, interactive study companion.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C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450</Words>
  <Application>Microsoft Office PowerPoint</Application>
  <PresentationFormat>Widescreen</PresentationFormat>
  <Paragraphs>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Bahnschrift SemiBold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PRAGYA SINGH</dc:creator>
  <cp:keywords/>
  <dc:description>generated using python-pptx</dc:description>
  <cp:lastModifiedBy>PRAGYA SINGH</cp:lastModifiedBy>
  <cp:revision>1</cp:revision>
  <dcterms:created xsi:type="dcterms:W3CDTF">2013-01-27T09:14:16Z</dcterms:created>
  <dcterms:modified xsi:type="dcterms:W3CDTF">2026-10-05T17:10:53Z</dcterms:modified>
  <cp:category/>
</cp:coreProperties>
</file>